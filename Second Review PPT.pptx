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sldIdLst>
    <p:sldId id="256" r:id="rId2"/>
    <p:sldId id="268" r:id="rId3"/>
    <p:sldId id="266" r:id="rId4"/>
    <p:sldId id="258" r:id="rId5"/>
    <p:sldId id="259" r:id="rId6"/>
    <p:sldId id="260" r:id="rId7"/>
    <p:sldId id="269" r:id="rId8"/>
    <p:sldId id="261" r:id="rId9"/>
    <p:sldId id="275" r:id="rId10"/>
    <p:sldId id="270" r:id="rId11"/>
    <p:sldId id="271" r:id="rId12"/>
    <p:sldId id="272" r:id="rId13"/>
    <p:sldId id="277" r:id="rId14"/>
    <p:sldId id="276" r:id="rId15"/>
    <p:sldId id="273" r:id="rId16"/>
    <p:sldId id="274" r:id="rId17"/>
    <p:sldId id="265" r:id="rId18"/>
    <p:sldId id="26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erthi Gadiparthy" userId="74bac1dac16bc448" providerId="LiveId" clId="{E7E3B7CF-D27D-4AF6-ABA5-7B4CE3CCD882}"/>
    <pc:docChg chg="modSld">
      <pc:chgData name="Keerthi Gadiparthy" userId="74bac1dac16bc448" providerId="LiveId" clId="{E7E3B7CF-D27D-4AF6-ABA5-7B4CE3CCD882}" dt="2026-03-04T17:05:03.107" v="27" actId="20577"/>
      <pc:docMkLst>
        <pc:docMk/>
      </pc:docMkLst>
      <pc:sldChg chg="modSp mod">
        <pc:chgData name="Keerthi Gadiparthy" userId="74bac1dac16bc448" providerId="LiveId" clId="{E7E3B7CF-D27D-4AF6-ABA5-7B4CE3CCD882}" dt="2026-03-04T17:05:03.107" v="27" actId="20577"/>
        <pc:sldMkLst>
          <pc:docMk/>
          <pc:sldMk cId="3400683620" sldId="270"/>
        </pc:sldMkLst>
        <pc:spChg chg="mod">
          <ac:chgData name="Keerthi Gadiparthy" userId="74bac1dac16bc448" providerId="LiveId" clId="{E7E3B7CF-D27D-4AF6-ABA5-7B4CE3CCD882}" dt="2026-03-04T17:05:03.107" v="27" actId="20577"/>
          <ac:spMkLst>
            <pc:docMk/>
            <pc:sldMk cId="3400683620" sldId="270"/>
            <ac:spMk id="3" creationId="{0FD4C5DE-A2D3-66ED-FF7D-B10A5D574E2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4BBBA-DA5C-BD0E-E2E9-25C7E46285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A84C62-CA35-972D-67D7-85B4761881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2318C7-F488-249C-2339-D175A5187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423D9-9411-4206-93F5-E45976DC498C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0F89D5-047E-79B4-9641-BA784CF9F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F589BE-3A27-BECD-8D39-0386A6A80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BCC11-716D-43B2-9D34-2E37A563B2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8416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83644-3840-A935-C30E-707B7DE0F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7D3E64-2099-74E2-B3C8-3FCA411F32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623DF2-E7AA-96F3-69FA-DC03B1C2B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423D9-9411-4206-93F5-E45976DC498C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677D5-9B50-C3AB-90DF-015B16CB7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AA2B7-57D8-18A1-F54D-6D7DB04E1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BCC11-716D-43B2-9D34-2E37A563B2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6435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EA554-67CF-3C36-258E-78DA6AE40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B2AE04-A314-FC0B-1CC3-BDC82BE941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F1B646-0B11-4817-3C88-88FEA63D5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423D9-9411-4206-93F5-E45976DC498C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638C51-DF6D-BDEA-F346-7F18B7A70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BA953B-8D20-505D-ED75-BC49B89AC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BCC11-716D-43B2-9D34-2E37A563B2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9986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30D4E-B4A9-9F83-3B83-BEC0FA06E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E2F70-0573-EA66-FA2D-712FF6D44C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B71D3C-8D7F-385F-61AF-33DA25E908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3FFFDA-F4EC-3765-0C1D-4C47D302B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423D9-9411-4206-93F5-E45976DC498C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C34FA5-70C0-92F0-5C50-241D43D73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95EFF0-EF7F-E113-A52A-078B5BCAE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BCC11-716D-43B2-9D34-2E37A563B2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5584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B8202-791D-94CD-FC54-C7117EF8E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10B64F-1141-A721-D4EF-A07B5B2265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757F89-3F81-4EAD-8D44-BF6FC63F14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C5E4BF-20CD-0CF7-E2FF-A5FF250FDB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790008-AEB0-A375-552D-A56F4F4099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53BA51-5B8A-7EE4-19D1-078B362F6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423D9-9411-4206-93F5-E45976DC498C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3D2FA1-9BD1-5690-0F37-79628EA3A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3F4167-A57A-902F-C4C6-CA7B672A0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BCC11-716D-43B2-9D34-2E37A563B2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1524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EB8E5-7E05-658F-DC83-02D97CA89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F91893-2FFE-1E4D-5794-18839D08B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423D9-9411-4206-93F5-E45976DC498C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44160C-D5F3-9CD5-9610-0F8F3A946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90CE60-3E60-60CA-87BA-954EFBA80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BCC11-716D-43B2-9D34-2E37A563B2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223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9D166D-73C1-B89A-A515-BB3545710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423D9-9411-4206-93F5-E45976DC498C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EEB8BE-1D5F-9390-991F-C30714709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F26B29-0549-1653-2A1B-E9965D252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BCC11-716D-43B2-9D34-2E37A563B2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4577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2D4C4-D5B2-F913-E301-FE5F51635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C3759-38A5-E2CF-EF5E-521B8E1C10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A641F6-96C2-BC41-6F33-AA50C90C5E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8E6C31-1B17-E1CF-37CA-3726B09CA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423D9-9411-4206-93F5-E45976DC498C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81EEE4-61A2-607C-8D49-EB2B52156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BF3A45-CF7C-6850-25C8-87454582B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BCC11-716D-43B2-9D34-2E37A563B2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6816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8A31A-1444-320F-9DDD-A61A2A47B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93A72E-80ED-A87B-D762-747556B666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98E0CE-043B-9294-030B-35ADA1BDDA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C4A2AB-E540-C1AE-F597-0B0C2ED5B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423D9-9411-4206-93F5-E45976DC498C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810933-76BC-6C85-FEF0-8492A5C07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C513F5-3031-5EF3-E6F8-DD8BE9509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BCC11-716D-43B2-9D34-2E37A563B2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765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6E14E-86E1-D736-91DE-F5CE72F6F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D45E0A-B11A-BCA6-7D6C-D44BFB968A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4664FE-276A-F7FD-B970-A36D8AD48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423D9-9411-4206-93F5-E45976DC498C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001213-8485-1420-8573-A6CF2D1D5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173DE1-3F7B-3277-FADD-FBC039A0D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BCC11-716D-43B2-9D34-2E37A563B2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5787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ABC570-C9D8-04C7-DA38-C25FB3AAC1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A8413E-35BD-6BE4-9EBB-89EB2302D4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D34E57-9FF6-B7C4-B157-B5900F713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423D9-9411-4206-93F5-E45976DC498C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038B09-0D65-C684-C6D4-F2368A704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E455C1-33D4-38A8-4A06-A0B19AA8F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BCC11-716D-43B2-9D34-2E37A563B2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8760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D969A3-206B-D32B-50DD-5E6564A23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826C83-CBEE-1EE8-900C-B63896CD39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C08416-1046-A080-DB84-EA6C943321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3423D9-9411-4206-93F5-E45976DC498C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39CE5-A864-E2A5-9D68-14AE53BA0B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9E1284-0B9E-643A-FEAF-76AC90D3E3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3BCC11-716D-43B2-9D34-2E37A563B2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1151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FACA45B-238D-D90F-71E6-CF79A9F78399}"/>
              </a:ext>
            </a:extLst>
          </p:cNvPr>
          <p:cNvSpPr txBox="1"/>
          <p:nvPr/>
        </p:nvSpPr>
        <p:spPr>
          <a:xfrm>
            <a:off x="1396181" y="1455174"/>
            <a:ext cx="8780206" cy="1087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Unified NLP-Driven Model for Detecting Fake News in Multiple Languages</a:t>
            </a:r>
            <a:endParaRPr lang="en-IN" sz="32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67A645-3A8A-5C8E-B300-DF5B81C2E3C3}"/>
              </a:ext>
            </a:extLst>
          </p:cNvPr>
          <p:cNvSpPr txBox="1"/>
          <p:nvPr/>
        </p:nvSpPr>
        <p:spPr>
          <a:xfrm>
            <a:off x="3824748" y="540774"/>
            <a:ext cx="38935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 Review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8696CD-F04C-A374-59A6-20D67C474D97}"/>
              </a:ext>
            </a:extLst>
          </p:cNvPr>
          <p:cNvSpPr txBox="1"/>
          <p:nvPr/>
        </p:nvSpPr>
        <p:spPr>
          <a:xfrm>
            <a:off x="3903406" y="2782529"/>
            <a:ext cx="32348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No - 260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8B52DA-1662-0B8F-0429-4AACD7467BB1}"/>
              </a:ext>
            </a:extLst>
          </p:cNvPr>
          <p:cNvSpPr txBox="1"/>
          <p:nvPr/>
        </p:nvSpPr>
        <p:spPr>
          <a:xfrm>
            <a:off x="550606" y="4650658"/>
            <a:ext cx="2733368" cy="2333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details: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Mrs . N. Mounika</a:t>
            </a:r>
          </a:p>
          <a:p>
            <a:pPr marL="12700" marR="5080">
              <a:lnSpc>
                <a:spcPct val="99800"/>
              </a:lnSpc>
              <a:spcBef>
                <a:spcPts val="115"/>
              </a:spcBef>
            </a:pPr>
            <a:r>
              <a:rPr lang="en-IN" spc="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Asst.Prof</a:t>
            </a:r>
            <a:endParaRPr lang="en-IN" spc="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ct val="99800"/>
              </a:lnSpc>
              <a:spcBef>
                <a:spcPts val="115"/>
              </a:spcBef>
            </a:pPr>
            <a:r>
              <a:rPr lang="en-IN" spc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 of CSE                          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83B796-3CB1-70EE-6566-339196E4DF02}"/>
              </a:ext>
            </a:extLst>
          </p:cNvPr>
          <p:cNvSpPr txBox="1"/>
          <p:nvPr/>
        </p:nvSpPr>
        <p:spPr>
          <a:xfrm>
            <a:off x="8190271" y="4650658"/>
            <a:ext cx="336263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221FA04462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Sk.Rehana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Sultana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221FA04686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G.Keerthi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Lakshmi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5744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4B064-2DC2-1439-A318-B4ADE9608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E0130-4E96-5539-B9DA-8D1111C96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877825"/>
            <a:ext cx="8679641" cy="969264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b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5698C-D74E-CCAE-AE0E-EB4A21E4C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007937"/>
            <a:ext cx="6805015" cy="3880773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Fake news spreads rapidly across digital platforms, creating misinformation that affects society and global communication.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detection systems are mostly language-specific, making it difficult to identify fake news across diverse languages.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develops a multilingual fake news detection system using advanced NLP techniques to classify news as real or fake.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Fake News Detection: It's All in the Data!">
            <a:extLst>
              <a:ext uri="{FF2B5EF4-FFF2-40B4-BE49-F238E27FC236}">
                <a16:creationId xmlns:a16="http://schemas.microsoft.com/office/drawing/2014/main" id="{21355393-CB14-D5D2-F942-753A98679C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4913" y="1847089"/>
            <a:ext cx="4266477" cy="3273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4473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C2FEC-263B-7E53-21A7-809D996AC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458" y="176981"/>
            <a:ext cx="8890543" cy="1602658"/>
          </a:xfrm>
        </p:spPr>
        <p:txBody>
          <a:bodyPr>
            <a:normAutofit/>
          </a:bodyPr>
          <a:lstStyle/>
          <a:p>
            <a:r>
              <a:rPr lang="en-IN" sz="2800" dirty="0"/>
              <a:t>Objective: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07C018-5A1F-5DFF-0DF7-59D3C4BC5B71}"/>
              </a:ext>
            </a:extLst>
          </p:cNvPr>
          <p:cNvSpPr txBox="1"/>
          <p:nvPr/>
        </p:nvSpPr>
        <p:spPr>
          <a:xfrm>
            <a:off x="1248697" y="1455174"/>
            <a:ext cx="898668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develop an automated system that accurately detects fake news across multiple languages.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apply advanced NLP and machine learning techniques for effective text analysis and classification.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create a scalable and reliable model that helps reduce the spread of misinformation globally.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F3101D-1E25-F0AE-7DEE-8714B59BFA3E}"/>
              </a:ext>
            </a:extLst>
          </p:cNvPr>
          <p:cNvSpPr txBox="1"/>
          <p:nvPr/>
        </p:nvSpPr>
        <p:spPr>
          <a:xfrm>
            <a:off x="550607" y="3657600"/>
            <a:ext cx="3352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Repository:</a:t>
            </a:r>
          </a:p>
          <a:p>
            <a:r>
              <a:rPr lang="en-IN" dirty="0"/>
              <a:t>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2054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ECB12-17BD-33E5-66ED-4AB8311AE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916" y="344130"/>
            <a:ext cx="5083378" cy="668594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Statistics: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6924EF-D323-8663-79B6-96B838C66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6348" y="1307690"/>
            <a:ext cx="5864684" cy="22417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Set: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Fake News Detection</a:t>
            </a:r>
          </a:p>
          <a:p>
            <a:pPr marL="0" indent="0">
              <a:buNone/>
            </a:pP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Source: 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Kaggle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Split: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data: 75%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Testing data: 25%</a:t>
            </a:r>
          </a:p>
          <a:p>
            <a:pPr marL="0" indent="0">
              <a:buNone/>
            </a:pPr>
            <a:endParaRPr lang="en-IN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48A56B4-0496-B609-5519-331CE1F0E8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56528873"/>
              </p:ext>
            </p:extLst>
          </p:nvPr>
        </p:nvGraphicFramePr>
        <p:xfrm>
          <a:off x="1278194" y="2988940"/>
          <a:ext cx="4572100" cy="2623952"/>
        </p:xfrm>
        <a:graphic>
          <a:graphicData uri="http://schemas.openxmlformats.org/drawingml/2006/table">
            <a:tbl>
              <a:tblPr/>
              <a:tblGrid>
                <a:gridCol w="2286050">
                  <a:extLst>
                    <a:ext uri="{9D8B030D-6E8A-4147-A177-3AD203B41FA5}">
                      <a16:colId xmlns:a16="http://schemas.microsoft.com/office/drawing/2014/main" val="1337547182"/>
                    </a:ext>
                  </a:extLst>
                </a:gridCol>
                <a:gridCol w="2286050">
                  <a:extLst>
                    <a:ext uri="{9D8B030D-6E8A-4147-A177-3AD203B41FA5}">
                      <a16:colId xmlns:a16="http://schemas.microsoft.com/office/drawing/2014/main" val="1091844386"/>
                    </a:ext>
                  </a:extLst>
                </a:gridCol>
              </a:tblGrid>
              <a:tr h="2976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Component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Samples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4594596"/>
                  </a:ext>
                </a:extLst>
              </a:tr>
              <a:tr h="5208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Total Training Samples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75,000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3298972"/>
                  </a:ext>
                </a:extLst>
              </a:tr>
              <a:tr h="3072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Initial </a:t>
                      </a:r>
                      <a:r>
                        <a:rPr lang="en-IN" dirty="0" err="1"/>
                        <a:t>Labeled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15,000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8569389"/>
                  </a:ext>
                </a:extLst>
              </a:tr>
              <a:tr h="2976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Initial Unlabeled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8636210"/>
                  </a:ext>
                </a:extLst>
              </a:tr>
              <a:tr h="5208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Samples Added per Cycle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1385560"/>
                  </a:ext>
                </a:extLst>
              </a:tr>
              <a:tr h="2976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Maximum Iterations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686788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5D847CF-2496-094C-E600-D040FA7BA6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5839893"/>
              </p:ext>
            </p:extLst>
          </p:nvPr>
        </p:nvGraphicFramePr>
        <p:xfrm>
          <a:off x="5722374" y="3087329"/>
          <a:ext cx="5432992" cy="2462982"/>
        </p:xfrm>
        <a:graphic>
          <a:graphicData uri="http://schemas.openxmlformats.org/drawingml/2006/table">
            <a:tbl>
              <a:tblPr/>
              <a:tblGrid>
                <a:gridCol w="2716496">
                  <a:extLst>
                    <a:ext uri="{9D8B030D-6E8A-4147-A177-3AD203B41FA5}">
                      <a16:colId xmlns:a16="http://schemas.microsoft.com/office/drawing/2014/main" val="3188897900"/>
                    </a:ext>
                  </a:extLst>
                </a:gridCol>
                <a:gridCol w="2716496">
                  <a:extLst>
                    <a:ext uri="{9D8B030D-6E8A-4147-A177-3AD203B41FA5}">
                      <a16:colId xmlns:a16="http://schemas.microsoft.com/office/drawing/2014/main" val="1414360303"/>
                    </a:ext>
                  </a:extLst>
                </a:gridCol>
              </a:tblGrid>
              <a:tr h="4104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Component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Samples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2946389"/>
                  </a:ext>
                </a:extLst>
              </a:tr>
              <a:tr h="4104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Total Test Samples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24,409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773049"/>
                  </a:ext>
                </a:extLst>
              </a:tr>
              <a:tr h="4104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Labeled</a:t>
                      </a:r>
                      <a:r>
                        <a:rPr lang="en-IN" dirty="0"/>
                        <a:t> Samples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24,409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9267336"/>
                  </a:ext>
                </a:extLst>
              </a:tr>
              <a:tr h="4104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Unlabeled Samples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1808230"/>
                  </a:ext>
                </a:extLst>
              </a:tr>
              <a:tr h="4104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Evaluation Cycles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128495"/>
                  </a:ext>
                </a:extLst>
              </a:tr>
              <a:tr h="4104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Final Accuracy Check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094667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E698DE1-8708-8FD8-FA31-848544628DA8}"/>
              </a:ext>
            </a:extLst>
          </p:cNvPr>
          <p:cNvSpPr txBox="1"/>
          <p:nvPr/>
        </p:nvSpPr>
        <p:spPr>
          <a:xfrm>
            <a:off x="1858297" y="594083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Training Samples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ED843A-5EC4-AB0C-9AB9-8DD6AD77FF93}"/>
              </a:ext>
            </a:extLst>
          </p:cNvPr>
          <p:cNvSpPr txBox="1"/>
          <p:nvPr/>
        </p:nvSpPr>
        <p:spPr>
          <a:xfrm>
            <a:off x="6921910" y="5756164"/>
            <a:ext cx="48178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Testing Samples</a:t>
            </a:r>
          </a:p>
        </p:txBody>
      </p:sp>
    </p:spTree>
    <p:extLst>
      <p:ext uri="{BB962C8B-B14F-4D97-AF65-F5344CB8AC3E}">
        <p14:creationId xmlns:p14="http://schemas.microsoft.com/office/powerpoint/2010/main" val="299963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9640B-0124-B75F-54D8-FA7762FE1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614" y="196645"/>
            <a:ext cx="6331974" cy="506361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Review Progress: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0B55E-AB35-90EA-C98A-B4FF73B55E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614" y="816077"/>
            <a:ext cx="10766321" cy="5338917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identification and formulation of Fake News Detection as a binary and multi-class text classification problem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(Kaggle Dataset– Real/Fake).</a:t>
            </a:r>
          </a:p>
          <a:p>
            <a:pPr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on transformer-based deep learning architectures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(BERT,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DistilBERT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ALBERT,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DeBERTa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used for efficient News classification.</a:t>
            </a:r>
          </a:p>
          <a:p>
            <a:pPr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selection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(Kaggle Dataset – public benchmark datasets) and understanding of text characteristics, class distribution, and real-world relevance in opinion mining and social media analysis.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steps:</a:t>
            </a:r>
          </a:p>
          <a:p>
            <a:pPr marL="342900" indent="-34290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cleaning (removal of URLs, special characters, emojis)</a:t>
            </a:r>
          </a:p>
          <a:p>
            <a:pPr marL="342900" indent="-34290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Lowercasing and normalization</a:t>
            </a:r>
          </a:p>
          <a:p>
            <a:pPr marL="342900" indent="-34290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Tokenization using transformer tokenizers</a:t>
            </a:r>
          </a:p>
          <a:p>
            <a:pPr marL="342900" indent="-34290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class imbalance (if required)</a:t>
            </a:r>
          </a:p>
          <a:p>
            <a:pPr marL="342900" indent="-34290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splitting (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Train,Test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75/25)</a:t>
            </a:r>
          </a:p>
          <a:p>
            <a:pPr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model selection and feasibility analysis: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Selection of pre-trained transformer models for fine-tuning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of Baseline Models (Logistic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Regression,Svm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vs heavyweight models (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mBERT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Xlm-RoBERTa,Labase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Preparation of First Review PPT including:</a:t>
            </a:r>
          </a:p>
          <a:p>
            <a:pPr marL="457200" indent="-45720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marL="457200" indent="-45720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457200" indent="-45720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  <a:p>
            <a:pPr marL="0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69660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A6FD4-F947-51DC-6A6D-25C0D8BCE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278" y="265471"/>
            <a:ext cx="8278761" cy="570271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 Review Progress: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BC4FE-0572-6FA0-6CB1-AA22E6AEAD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278" y="1130711"/>
            <a:ext cx="11395587" cy="5545392"/>
          </a:xfrm>
        </p:spPr>
        <p:txBody>
          <a:bodyPr>
            <a:no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Contextual Feature Extraction Using Transformer-based Language Models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Extraction of deep contextual word and sentence embeddings from multilingual transformer encoders.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of multiple Transformer models:</a:t>
            </a:r>
          </a:p>
          <a:p>
            <a:pPr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mBERT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xlm-RoBERTa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DistilBERT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Paraphase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MultiLingual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Multilingual Fake News Detection Framework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End-to-end multilingual pipeline using transformer embeddings.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Seamless handling of cross-lingual data using shared vocabularies and sentence encoders.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Designed to classify news into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or multi-class outputs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depending on dataset.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 and performance comparison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across binary classification dataset</a:t>
            </a:r>
          </a:p>
          <a:p>
            <a:pPr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 tuning:</a:t>
            </a:r>
          </a:p>
          <a:p>
            <a:pPr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Learning rate optimization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size tuning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training epochs selection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sequence length adjustment</a:t>
            </a:r>
          </a:p>
          <a:p>
            <a:pPr marL="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15814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16F10-5950-C35F-D1A7-19CC16018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652819" cy="519778"/>
          </a:xfrm>
        </p:spPr>
        <p:txBody>
          <a:bodyPr>
            <a:norm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C4A19E6-6E63-C2EF-A539-A8D3C72695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826" y="1013528"/>
            <a:ext cx="8809703" cy="5844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7911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B07F8-C3A5-B6EB-A5E7-9ECC6D0DC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75304"/>
            <a:ext cx="8240524" cy="845573"/>
          </a:xfrm>
        </p:spPr>
        <p:txBody>
          <a:bodyPr>
            <a:normAutofit fontScale="90000"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 of the Proposed Model</a:t>
            </a:r>
            <a:b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19F47-E0A7-D102-0804-EF79721A2A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606" y="1042219"/>
            <a:ext cx="9876762" cy="5287900"/>
          </a:xfrm>
        </p:spPr>
        <p:txBody>
          <a:bodyPr>
            <a:no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Fake News Detection Framework using Transformer Models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evaluated using multiple quantitative performance metrics to ensure high accuracy, multilingual robustness, and reliable fake news classification.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datasets consisted of: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Binary Fake News Classification : Real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evaluation metrics included:</a:t>
            </a:r>
          </a:p>
          <a:p>
            <a:pPr marL="457200" indent="-45720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</a:p>
          <a:p>
            <a:pPr marL="457200" indent="-45720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</a:t>
            </a:r>
          </a:p>
          <a:p>
            <a:pPr marL="457200" indent="-45720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</a:t>
            </a:r>
          </a:p>
          <a:p>
            <a:pPr marL="457200" indent="-45720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F1-Score</a:t>
            </a:r>
          </a:p>
          <a:p>
            <a:pPr marL="457200" indent="-45720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</a:t>
            </a:r>
          </a:p>
          <a:p>
            <a:pPr marL="457200" indent="-45720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ROC-AUC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Across all tested models,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XLM-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achieved the highest performance, with an overall accuracy of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approximately 94%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the multilingual fake news dataset.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outperformed other transformer models including:</a:t>
            </a:r>
          </a:p>
          <a:p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mBERT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Distiluse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LaBSE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Paraphase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Multingual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58249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A9517-1E78-51CC-B6D1-F9608B35B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br>
              <a:rPr lang="en-US" sz="2800" b="1" dirty="0">
                <a:solidFill>
                  <a:srgbClr val="465739"/>
                </a:solidFill>
                <a:latin typeface="Times New Roman" panose="02020603050405020304" pitchFamily="18" charset="0"/>
                <a:ea typeface="Glacial Indifference Bold"/>
                <a:cs typeface="Times New Roman" panose="02020603050405020304" pitchFamily="18" charset="0"/>
                <a:sym typeface="Glacial Indifference Bold"/>
              </a:rPr>
            </a:br>
            <a:endParaRPr lang="en-IN" sz="2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1799720-5C48-53D1-051A-A90DB22EE2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0142" y="1379359"/>
            <a:ext cx="8386916" cy="4797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1243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0C13C-C2C4-6545-F828-6C988EA3C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Methodology 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D4C5DE-A2D3-66ED-FF7D-B10A5D574E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3498"/>
            <a:ext cx="10515600" cy="4623466"/>
          </a:xfrm>
        </p:spPr>
        <p:txBody>
          <a:bodyPr>
            <a:norm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Collection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Collect multilingual fake news datasets containing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labeled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samples such as Real, Fake, Partially Fake, and Misleading.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Data Cleaning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Remove noise such as URLs, emojis, special characters, HTML tags, and unnecessary punctuation.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Text Normalization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Apply lowercasing, whitespace normalization, and standardize multilingual text formats.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Tokenization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Use transformer-based multilingual tokenizers to convert text into input tokens.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06836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024DD-0370-9361-4876-732A2054DB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7755" y="904568"/>
            <a:ext cx="10636045" cy="5272395"/>
          </a:xfrm>
        </p:spPr>
        <p:txBody>
          <a:bodyPr>
            <a:norm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Splitting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Divide the dataset into training, validation, and testing sets (e.g., 80/10/10).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Model Selection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Choose transformer models like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mBERT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XLM-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DistilmBERT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fine-tuning.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Model Training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Train the selected models on the processed multilingual dataset to learn contextual fake news patterns.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Model Evaluation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Evaluate performance using metrics such as Accuracy, Precision, Recall, F1-score, Confusion Matrix, and ROC-AUC.</a:t>
            </a:r>
          </a:p>
        </p:txBody>
      </p:sp>
    </p:spTree>
    <p:extLst>
      <p:ext uri="{BB962C8B-B14F-4D97-AF65-F5344CB8AC3E}">
        <p14:creationId xmlns:p14="http://schemas.microsoft.com/office/powerpoint/2010/main" val="31106342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CF6BB-F3AB-56C4-1DDB-BCEF0E6111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29" y="776748"/>
            <a:ext cx="10704871" cy="540021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Learning Status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Programming: Python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Libraries: NumPy, Pandas, Scikit-learn,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Transformers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Platform: Google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(GPU Enabled)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Visualization: Matplotlib, Seaborn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Handling: Kaggle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Dataet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Status: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Completed basics of NLP and Transformers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Base models and Transformer models</a:t>
            </a:r>
          </a:p>
          <a:p>
            <a:r>
              <a:rPr lang="en-US" sz="2000" dirty="0"/>
              <a:t>Understood fake news classification techniques and evaluation metrics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0467334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5FE1A87-36FF-0074-32F4-4A5B3BE188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4007" y="1762151"/>
            <a:ext cx="7373379" cy="18195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B0DEDBA-EC48-53E3-2607-E3364D2B28C5}"/>
              </a:ext>
            </a:extLst>
          </p:cNvPr>
          <p:cNvSpPr txBox="1"/>
          <p:nvPr/>
        </p:nvSpPr>
        <p:spPr>
          <a:xfrm>
            <a:off x="3244645" y="3942735"/>
            <a:ext cx="5781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Class Wise Performance of Base Models</a:t>
            </a:r>
          </a:p>
        </p:txBody>
      </p:sp>
    </p:spTree>
    <p:extLst>
      <p:ext uri="{BB962C8B-B14F-4D97-AF65-F5344CB8AC3E}">
        <p14:creationId xmlns:p14="http://schemas.microsoft.com/office/powerpoint/2010/main" val="1057736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AF85713-21B1-5D43-1CB5-7B6D39D6F4E1}"/>
              </a:ext>
            </a:extLst>
          </p:cNvPr>
          <p:cNvSpPr txBox="1"/>
          <p:nvPr/>
        </p:nvSpPr>
        <p:spPr>
          <a:xfrm>
            <a:off x="3264310" y="4306529"/>
            <a:ext cx="7148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Class wise Performance of Transformer Models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1EEDB1D-A862-C903-3C48-EC4579850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8234" y="1718660"/>
            <a:ext cx="8849960" cy="2019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2053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2951A-D687-4587-95B9-FD1B0DB69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751142" cy="667262"/>
          </a:xfrm>
        </p:spPr>
        <p:txBody>
          <a:bodyPr>
            <a:norm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 for Base Models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F0EE45-B04F-5262-72A2-EB809C3722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032388"/>
            <a:ext cx="2976716" cy="27892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8F4E876-FEA6-531C-D74D-14917FE778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1588" y="1032388"/>
            <a:ext cx="3135394" cy="28953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3A31BCB-E948-1DFC-7BDD-64F5896C48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0843" y="812535"/>
            <a:ext cx="3282563" cy="303083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8983B7C-5A1D-D51D-0755-9294D84411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4425" y="4150048"/>
            <a:ext cx="2930014" cy="2396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3862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20284-941A-604D-0D40-1569F75CF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279194" cy="608269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 for Base Models</a:t>
            </a:r>
            <a:endParaRPr lang="en-IN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410814-A6D7-9E04-BBC2-2597884115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4286" y="3822579"/>
            <a:ext cx="3239389" cy="28576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EC46BA-2B98-CB69-71B5-13F841121D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9675" y="973394"/>
            <a:ext cx="3064000" cy="26554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10C0BB9-C410-CE9A-5F6B-34585DF8AD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9064" y="755175"/>
            <a:ext cx="3340911" cy="28736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74EE03E-8D9C-573D-9914-2A882C96C7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810" y="973394"/>
            <a:ext cx="3480127" cy="30707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9BE5856-4F70-6A06-EEFD-428EEE3BD0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0412" y="3761959"/>
            <a:ext cx="3501833" cy="2978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9038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417CA-AA73-A2E0-76A3-93B9C9D3E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1042737"/>
            <a:ext cx="8596668" cy="1320800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0335B-47BE-0BB2-4657-6339E63609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8883761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presents an effective approach to detecting fake news in a multilingual environment using NLP and deep learning techniques. By combining multiple datasets and applying transformer-based models, the proposed system achieves better generalization across languages compared to traditional methods. The solution is scalable, language-independent, and suitable for real-world applications such as social media monitoring and news verification.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24264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62F66-2C83-6CE0-2234-99E2055D4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1014" y="2768600"/>
            <a:ext cx="6704650" cy="1320800"/>
          </a:xfrm>
        </p:spPr>
        <p:txBody>
          <a:bodyPr>
            <a:noAutofit/>
          </a:bodyPr>
          <a:lstStyle/>
          <a:p>
            <a:r>
              <a:rPr lang="en-US" sz="8800" dirty="0">
                <a:latin typeface="Algerian" panose="04020705040A02060702" pitchFamily="82" charset="0"/>
              </a:rPr>
              <a:t>Thank YOU</a:t>
            </a:r>
            <a:endParaRPr lang="en-IN" sz="88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208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244</TotalTime>
  <Words>932</Words>
  <Application>Microsoft Office PowerPoint</Application>
  <PresentationFormat>Widescreen</PresentationFormat>
  <Paragraphs>137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Algerian</vt:lpstr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INTRODUCTION </vt:lpstr>
      <vt:lpstr>Objective:</vt:lpstr>
      <vt:lpstr>Dataset Statistics:</vt:lpstr>
      <vt:lpstr>First Review Progress:</vt:lpstr>
      <vt:lpstr>Second Review Progress:</vt:lpstr>
      <vt:lpstr>Literature Survey</vt:lpstr>
      <vt:lpstr>Performance Evaluation of the Proposed Model </vt:lpstr>
      <vt:lpstr>Proposed System Architecture </vt:lpstr>
      <vt:lpstr> Methodology  </vt:lpstr>
      <vt:lpstr>PowerPoint Presentation</vt:lpstr>
      <vt:lpstr>PowerPoint Presentation</vt:lpstr>
      <vt:lpstr>PowerPoint Presentation</vt:lpstr>
      <vt:lpstr>PowerPoint Presentation</vt:lpstr>
      <vt:lpstr>Confusion Matrix for Base Models</vt:lpstr>
      <vt:lpstr>Confusion Matrix for Base Models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Shaik Rehana</dc:creator>
  <cp:lastModifiedBy>Keerthi Gadiparthy</cp:lastModifiedBy>
  <cp:revision>9</cp:revision>
  <dcterms:created xsi:type="dcterms:W3CDTF">2026-01-01T16:22:39Z</dcterms:created>
  <dcterms:modified xsi:type="dcterms:W3CDTF">2026-03-04T17:05:10Z</dcterms:modified>
</cp:coreProperties>
</file>