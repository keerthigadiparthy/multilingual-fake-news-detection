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8" r:id="rId2"/>
    <p:sldId id="260" r:id="rId3"/>
    <p:sldId id="261" r:id="rId4"/>
    <p:sldId id="271" r:id="rId5"/>
    <p:sldId id="270" r:id="rId6"/>
    <p:sldId id="268" r:id="rId7"/>
    <p:sldId id="267" r:id="rId8"/>
    <p:sldId id="262" r:id="rId9"/>
    <p:sldId id="266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0FFB2B-D03F-4D51-B305-075221216BC5}" v="31" dt="2026-01-28T19:45:21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88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1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83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33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83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57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51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275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18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85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5826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73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908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863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422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8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7D70C-3D96-490C-9D8B-46446E57006C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0ABA117-5EA4-4A99-8BD0-EE57EFFE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62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0BC5FA5B-278D-AD98-4CF3-D0E0D06C483C}"/>
              </a:ext>
            </a:extLst>
          </p:cNvPr>
          <p:cNvSpPr txBox="1">
            <a:spLocks/>
          </p:cNvSpPr>
          <p:nvPr/>
        </p:nvSpPr>
        <p:spPr>
          <a:xfrm>
            <a:off x="1588167" y="4799939"/>
            <a:ext cx="5678905" cy="136380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Batch:260</a:t>
            </a:r>
          </a:p>
          <a:p>
            <a:pPr marL="4572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221FA04462 - Shaik Rehana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Sulthana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221FA04686 –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G.Keerthi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Lakshmi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00145E-FBDF-F8E5-EF7D-F0AA4618A4D0}"/>
              </a:ext>
            </a:extLst>
          </p:cNvPr>
          <p:cNvSpPr txBox="1"/>
          <p:nvPr/>
        </p:nvSpPr>
        <p:spPr>
          <a:xfrm>
            <a:off x="1170431" y="3533131"/>
            <a:ext cx="3555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Mrs.N.Mounika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52163-0C80-2762-C064-69598BAE86AC}"/>
              </a:ext>
            </a:extLst>
          </p:cNvPr>
          <p:cNvSpPr txBox="1"/>
          <p:nvPr/>
        </p:nvSpPr>
        <p:spPr>
          <a:xfrm>
            <a:off x="775567" y="924213"/>
            <a:ext cx="89154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Fake News Detection 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ABE6A-759C-1F6D-3F52-CB00A8561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355" y="2153759"/>
            <a:ext cx="4597307" cy="442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7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CAF8-36AF-721F-5703-055276C6D7D4}"/>
              </a:ext>
            </a:extLst>
          </p:cNvPr>
          <p:cNvSpPr txBox="1">
            <a:spLocks/>
          </p:cNvSpPr>
          <p:nvPr/>
        </p:nvSpPr>
        <p:spPr>
          <a:xfrm>
            <a:off x="1839152" y="1201959"/>
            <a:ext cx="8679641" cy="9692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DEB7F-614D-0AE9-DF7E-F9F16804E45E}"/>
              </a:ext>
            </a:extLst>
          </p:cNvPr>
          <p:cNvSpPr txBox="1">
            <a:spLocks/>
          </p:cNvSpPr>
          <p:nvPr/>
        </p:nvSpPr>
        <p:spPr>
          <a:xfrm>
            <a:off x="1839152" y="2171223"/>
            <a:ext cx="9300855" cy="388077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growth of digital media has made news easily accessible, but it has also increased the spread of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fake news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mislead people and cause social and political harm. Fake news spreads rapidly on online platforms, especially social media.</a:t>
            </a:r>
          </a:p>
          <a:p>
            <a:pPr marL="0" indent="0">
              <a:buFont typeface="Wingdings 3" charset="2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Most fake news detection systems focus only on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ineffective in multilingual environments. This project proposes a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Fake News Detection System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using NLP and transformer-based models to identify fake and real news across multiple languages.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53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BC99C9-BD81-E18E-0F2A-E0323AE6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1184251"/>
            <a:ext cx="8596668" cy="13208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116D6C-328A-5153-561E-6CCE6981B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666" y="1844651"/>
            <a:ext cx="930085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spreads widely in multiple languages, but existing detection systems are mostly language-specific. There is a need for an automated system that can accurately detect fake news across different languages using a single model.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is to develop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fake news detection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handles linguistic variations while maintaining reliable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54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4884-3EBC-6C56-E72E-AC057FA7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76F8F-3F22-A442-44C6-C1C31BD69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Set: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Fake News Detection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data: 75%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data: 25%</a:t>
            </a:r>
          </a:p>
          <a:p>
            <a:pPr marL="0" indent="0">
              <a:buNone/>
            </a:pP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89341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34FA-D73C-5664-D22A-B461377B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022" y="624110"/>
            <a:ext cx="8911687" cy="97346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Tools / Equipment / Training Needs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5A992-5C13-4049-AF43-2F1ECAA61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022" y="1387366"/>
            <a:ext cx="8915400" cy="484652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/ Software</a:t>
            </a: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lang="en-US" b="1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US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  <a:endParaRPr lang="en-US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NumPy, Pandas – data handling</a:t>
            </a:r>
          </a:p>
          <a:p>
            <a:pPr lvl="1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preprocessing and evaluation</a:t>
            </a:r>
          </a:p>
          <a:p>
            <a:pPr lvl="1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TensorFlow – deep learning framework</a:t>
            </a:r>
          </a:p>
          <a:p>
            <a:pPr lvl="1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–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</a:t>
            </a:r>
          </a:p>
          <a:p>
            <a:pPr lvl="1" indent="-2286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 – result visualization</a:t>
            </a:r>
          </a:p>
          <a:p>
            <a:pPr marL="228600"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/ Equipment</a:t>
            </a: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 / Desktop Computer</a:t>
            </a: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GB RAM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(recommended for smooth execution)</a:t>
            </a: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support (Google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CUDA) for faster transformer training</a:t>
            </a:r>
          </a:p>
          <a:p>
            <a:pPr>
              <a:spcBef>
                <a:spcPts val="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497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E247F4-058F-3F29-90A8-E36052EC2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127" y="872911"/>
            <a:ext cx="8596668" cy="6737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MODEL USED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24F302-21D1-034D-9609-E031E2C4C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127" y="1546679"/>
            <a:ext cx="8915845" cy="44487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a baseline, traditional machine learning models are used:</a:t>
            </a:r>
          </a:p>
          <a:p>
            <a:pPr>
              <a:spcBef>
                <a:spcPts val="9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>
              <a:spcBef>
                <a:spcPts val="9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</a:p>
          <a:p>
            <a:pPr>
              <a:spcBef>
                <a:spcPts val="9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(LSTM)</a:t>
            </a:r>
          </a:p>
          <a:p>
            <a:pPr>
              <a:spcBef>
                <a:spcPts val="9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LSTM (Bi-LSTM</a:t>
            </a:r>
            <a:r>
              <a:rPr lang="en-IN" dirty="0"/>
              <a:t>)</a:t>
            </a:r>
          </a:p>
          <a:p>
            <a:pPr marL="0" indent="0">
              <a:spcBef>
                <a:spcPts val="900"/>
              </a:spcBef>
              <a:spcAft>
                <a:spcPts val="10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(Term Frequency–Inverse Document Frequency)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 of Words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57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6B77225-B50D-8FFE-4395-AFFD171B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554" y="841248"/>
            <a:ext cx="8596668" cy="98755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8A98B9-5809-219F-CB8D-517A0AA58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190" y="1828799"/>
            <a:ext cx="9750034" cy="4501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accuracy and handle multilingual text effectively, advanced transformer-based models are proposed: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XLM-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(XLM-R) Large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Ensenble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Model(XLM-R Small+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Bi-LSTM+ and TF-IDF 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languages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contextual and semantic meaning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low-resource languages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model for all languages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64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9A52-8E6E-226A-2EF3-318E70B20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Architecture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00BEE6-4605-4934-DE9A-EB5F641BA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2EF9E-0BE0-8CE5-41D0-9EB7E2D60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128" y="1094014"/>
            <a:ext cx="7903029" cy="737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08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819023-AC04-3A93-AF09-CADEBAFF0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678705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BA1C37-33F0-AD5C-8FD9-0BBFBF4B79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8065" y="1377981"/>
            <a:ext cx="710032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the provided multilingual training and testing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noise (URLs, punctuation, special characters)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Tokenize text using multilingual tokenizer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 for baseline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embeddings for proposed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baseline ML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 multilingual transformer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</a:t>
            </a:r>
          </a:p>
        </p:txBody>
      </p:sp>
    </p:spTree>
    <p:extLst>
      <p:ext uri="{BB962C8B-B14F-4D97-AF65-F5344CB8AC3E}">
        <p14:creationId xmlns:p14="http://schemas.microsoft.com/office/powerpoint/2010/main" val="363555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AC0F72-2222-0B0E-3906-248076E3B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63593"/>
              </p:ext>
            </p:extLst>
          </p:nvPr>
        </p:nvGraphicFramePr>
        <p:xfrm>
          <a:off x="1356852" y="518333"/>
          <a:ext cx="9656379" cy="6416812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350362">
                  <a:extLst>
                    <a:ext uri="{9D8B030D-6E8A-4147-A177-3AD203B41FA5}">
                      <a16:colId xmlns:a16="http://schemas.microsoft.com/office/drawing/2014/main" val="3729220633"/>
                    </a:ext>
                  </a:extLst>
                </a:gridCol>
                <a:gridCol w="1703385">
                  <a:extLst>
                    <a:ext uri="{9D8B030D-6E8A-4147-A177-3AD203B41FA5}">
                      <a16:colId xmlns:a16="http://schemas.microsoft.com/office/drawing/2014/main" val="3081450202"/>
                    </a:ext>
                  </a:extLst>
                </a:gridCol>
                <a:gridCol w="1489014">
                  <a:extLst>
                    <a:ext uri="{9D8B030D-6E8A-4147-A177-3AD203B41FA5}">
                      <a16:colId xmlns:a16="http://schemas.microsoft.com/office/drawing/2014/main" val="1221594171"/>
                    </a:ext>
                  </a:extLst>
                </a:gridCol>
                <a:gridCol w="2112815">
                  <a:extLst>
                    <a:ext uri="{9D8B030D-6E8A-4147-A177-3AD203B41FA5}">
                      <a16:colId xmlns:a16="http://schemas.microsoft.com/office/drawing/2014/main" val="2806049270"/>
                    </a:ext>
                  </a:extLst>
                </a:gridCol>
                <a:gridCol w="2000803">
                  <a:extLst>
                    <a:ext uri="{9D8B030D-6E8A-4147-A177-3AD203B41FA5}">
                      <a16:colId xmlns:a16="http://schemas.microsoft.com/office/drawing/2014/main" val="965945133"/>
                    </a:ext>
                  </a:extLst>
                </a:gridCol>
              </a:tblGrid>
              <a:tr h="3163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&amp; Models Used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/ Accuracy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Improvements / Contributions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Limitations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3466727870"/>
                  </a:ext>
                </a:extLst>
              </a:tr>
              <a:tr h="5938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TamilNews</a:t>
                      </a: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Inspector: A Multilingual Fake News Detection Framework Using Sentence Embeddings and Ensemble Learning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 Transformer (distiluse-base-multilingual-v1) + XGBoost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97.3% classification accuracy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 pipeline for Tamil/English; uses language-agnostic embeddings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Explainable AI (XAI) integration; currently restricted to two languages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2823427571"/>
                  </a:ext>
                </a:extLst>
              </a:tr>
              <a:tr h="481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Fake News Detection Model Based on </a:t>
                      </a:r>
                      <a:r>
                        <a:rPr lang="en-IN" sz="1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 (semantic extraction) + XGBoost classifier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97% average F1-score on ISOT dataset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decoupled strategy that separates feature extraction from decision-making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multimodal features; needs evaluation on larger cross-language datasets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1662031675"/>
                  </a:ext>
                </a:extLst>
              </a:tr>
              <a:tr h="430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Multi-Linguistic Fake news detector on Hindi, Marathi and Telugu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mBERT (Multilingual BERT)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 F1-score across Indic languages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Leverages Transfer Learning from English to low-resource Indic languages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drops significantly when zero-shot testing across dissimilar languages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168739740"/>
                  </a:ext>
                </a:extLst>
              </a:tr>
              <a:tr h="481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FaND-X: Fake News Detection using Transformer-based Multilingual Masked Language Model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XLM-RoBERTa, Bangla-BERT, and mBERT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 F1-score achieved with XLM-R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 for Bengali news; developed the Bengali Fake News Corpus (BFNC)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Sarcasm and complex morphology in Bengali remain highly challenging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2339912847"/>
                  </a:ext>
                </a:extLst>
              </a:tr>
              <a:tr h="481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CIFNet: A Cognitive-Inspired Fake News Detection Network for Urdu and English Multimodal Content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BERT, UrduBERT, and ResNet-50 + Cross-modal Transformer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97% (English) and 93% (Urdu) accuracy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(Text + Image) fusion inspired by human cognitive principles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heavy fusion layers; high dependency on OCR and image quality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2802275908"/>
                  </a:ext>
                </a:extLst>
              </a:tr>
              <a:tr h="646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BSM-DND: Bias and Sensitivity-Aware Multilingual Deepfake News Detection Using Bloom Filters and Recurrent Feature Elimination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Bloom Filters + RF + SVM + Recursive Feature Elimination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99.91% (English), 98% (Italian/Bengali)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Three-class classification (Authentic/Dangerous); uses Bloom filters for speed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space complexity for storing large categorized sensitive keyword lists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2269597310"/>
                  </a:ext>
                </a:extLst>
              </a:tr>
              <a:tr h="481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Interpretable BERT and RoBERTa based Fake News Detection using LIME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and RoBERTa + LIME (Explainability)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99.20% accuracy with fine-tuned RoBERTa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Addresses the "black-box" problem by providing word-level interpretability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static benchmarks; may not fully capture dynamic real-world campaigns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3719298876"/>
                  </a:ext>
                </a:extLst>
              </a:tr>
              <a:tr h="646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Generalized Multilingual AI-Powered System for Detecting Fake News in India: A Comparative Analysis of Machine Learning Algorithms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Regression, NB, and AdaBoost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99% accuracy using Logistic Regression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web scraping for URL headers and automated language detection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dataset size was small; required cross-dataset validation for consistency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447820655"/>
                  </a:ext>
                </a:extLst>
              </a:tr>
              <a:tr h="4423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AMUSED: A Multilingual Urdu-English Stance and Fake News Detection Corpus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m-BERT (Stance) and RoBERTa (Fake News)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79% F1-score for fake news detection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Urdu-English event-based corpus including social context (comments/likes)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3 social platforms; needs multimodal expansion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3449701885"/>
                  </a:ext>
                </a:extLst>
              </a:tr>
              <a:tr h="481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Semantic and Contextual Analysis for Multilingual Fake News Detection Using Deep Learning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(Hindi), MURIL (Tamil), Word2Vec (English) + LSTM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97% (Hindi), 93% (English), 84% (Tamil)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standard extraction (TF-IDF) with language-specific embeddings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performance in Tamil due to its high linguistic complexity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2538215174"/>
                  </a:ext>
                </a:extLst>
              </a:tr>
              <a:tr h="481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Cloud-Integrated Fake News Detection in European Portuguese: A Multilingual XGBoost Model Optimized for Accuracy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XGBoost (Jellyfish Algorithm)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 precision of 97.91%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Nature-inspired optimization for XGBoost weight selection in Portuguese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on specific Portuguese stop-word removal and preprocessing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996" marR="26996" marT="0" marB="0"/>
                </a:tc>
                <a:extLst>
                  <a:ext uri="{0D108BD9-81ED-4DB2-BD59-A6C34878D82A}">
                    <a16:rowId xmlns:a16="http://schemas.microsoft.com/office/drawing/2014/main" val="2874979274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48A60468-3435-ABE0-3CA7-0DAD41D55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689" y="41280"/>
            <a:ext cx="293856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Survey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57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E4FEA-D8AC-1694-CB0B-CF84658BB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052848"/>
              </p:ext>
            </p:extLst>
          </p:nvPr>
        </p:nvGraphicFramePr>
        <p:xfrm>
          <a:off x="1765738" y="914401"/>
          <a:ext cx="9696833" cy="539180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2319760">
                  <a:extLst>
                    <a:ext uri="{9D8B030D-6E8A-4147-A177-3AD203B41FA5}">
                      <a16:colId xmlns:a16="http://schemas.microsoft.com/office/drawing/2014/main" val="3010021051"/>
                    </a:ext>
                  </a:extLst>
                </a:gridCol>
                <a:gridCol w="1719952">
                  <a:extLst>
                    <a:ext uri="{9D8B030D-6E8A-4147-A177-3AD203B41FA5}">
                      <a16:colId xmlns:a16="http://schemas.microsoft.com/office/drawing/2014/main" val="1365061322"/>
                    </a:ext>
                  </a:extLst>
                </a:gridCol>
                <a:gridCol w="1503496">
                  <a:extLst>
                    <a:ext uri="{9D8B030D-6E8A-4147-A177-3AD203B41FA5}">
                      <a16:colId xmlns:a16="http://schemas.microsoft.com/office/drawing/2014/main" val="3579234848"/>
                    </a:ext>
                  </a:extLst>
                </a:gridCol>
                <a:gridCol w="2133364">
                  <a:extLst>
                    <a:ext uri="{9D8B030D-6E8A-4147-A177-3AD203B41FA5}">
                      <a16:colId xmlns:a16="http://schemas.microsoft.com/office/drawing/2014/main" val="2212114414"/>
                    </a:ext>
                  </a:extLst>
                </a:gridCol>
                <a:gridCol w="2020261">
                  <a:extLst>
                    <a:ext uri="{9D8B030D-6E8A-4147-A177-3AD203B41FA5}">
                      <a16:colId xmlns:a16="http://schemas.microsoft.com/office/drawing/2014/main" val="1513422337"/>
                    </a:ext>
                  </a:extLst>
                </a:gridCol>
              </a:tblGrid>
              <a:tr h="5760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Semantic and Contextual Analysis for Multilingual Fake News Detection Using Deep Learning</a:t>
                      </a:r>
                      <a:endParaRPr lang="en-IN" sz="1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(Hindi), MURIL (Tamil), Word2Vec (English) + LSTM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97% (Hindi), 93% (English), 84% (Tamil)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standard extraction (TF-IDF) with language-specific embeddings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performance in Tamil due to its high linguistic complexity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extLst>
                  <a:ext uri="{0D108BD9-81ED-4DB2-BD59-A6C34878D82A}">
                    <a16:rowId xmlns:a16="http://schemas.microsoft.com/office/drawing/2014/main" val="2591058858"/>
                  </a:ext>
                </a:extLst>
              </a:tr>
              <a:tr h="773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Cloud-Integrated Fake News Detection in European Portuguese: A Multilingual </a:t>
                      </a:r>
                      <a:r>
                        <a:rPr lang="en-IN" sz="10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 Optimized for Accuracy</a:t>
                      </a:r>
                      <a:endParaRPr lang="en-IN" sz="1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</a:t>
                      </a:r>
                      <a:r>
                        <a:rPr lang="en-IN" sz="1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(Jellyfish Algorithm)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 precision of 97.91%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Nature-inspired optimization for XGBoost weight selection in Portuguese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on specific Portuguese stop-word removal and preprocessing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extLst>
                  <a:ext uri="{0D108BD9-81ED-4DB2-BD59-A6C34878D82A}">
                    <a16:rowId xmlns:a16="http://schemas.microsoft.com/office/drawing/2014/main" val="4005884967"/>
                  </a:ext>
                </a:extLst>
              </a:tr>
              <a:tr h="5760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Optimising the Detection of Fake News in Multilingual Exposition using Machine Learning Techniques</a:t>
                      </a:r>
                      <a:endParaRPr lang="en-IN" sz="1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SVM, and Chaos-based initialization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99.95% accuracy using Random Forest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Systematically compares vectorization methods; uses Chaos Theory for optimization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risk of overfitting to the specific static datasets utilized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extLst>
                  <a:ext uri="{0D108BD9-81ED-4DB2-BD59-A6C34878D82A}">
                    <a16:rowId xmlns:a16="http://schemas.microsoft.com/office/drawing/2014/main" val="765072132"/>
                  </a:ext>
                </a:extLst>
              </a:tr>
              <a:tr h="773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Misinformation Detection in Arabic and English: A Hybrid Study Using Machine Learning Classifiers and Deep Neural Networks</a:t>
                      </a:r>
                      <a:endParaRPr lang="en-IN" sz="1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AraBERT and hybrid CNN-LSTM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99.6% accuracy for Arabic news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Specialized pipeline for Arabic diacritics and root-based morphology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GPU requirements; Arabic "out-of-vocabulary" words remain an issue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extLst>
                  <a:ext uri="{0D108BD9-81ED-4DB2-BD59-A6C34878D82A}">
                    <a16:rowId xmlns:a16="http://schemas.microsoft.com/office/drawing/2014/main" val="2720226652"/>
                  </a:ext>
                </a:extLst>
              </a:tr>
              <a:tr h="767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Misinformation Detection: Deep Learning Approaches for News Authenticity Assessment</a:t>
                      </a:r>
                      <a:endParaRPr lang="en-IN" sz="1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 and hybrid 1DCNN-BiLSTM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92.36% accuracy for the hybrid model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spatial (CNN) and temporal (BiLSTM) features for news authenticity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Resource-constrained for lower-resource Indian regional languages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extLst>
                  <a:ext uri="{0D108BD9-81ED-4DB2-BD59-A6C34878D82A}">
                    <a16:rowId xmlns:a16="http://schemas.microsoft.com/office/drawing/2014/main" val="3830810953"/>
                  </a:ext>
                </a:extLst>
              </a:tr>
              <a:tr h="5760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Unveiling the Source: Differentiating Human and Machine-Generated Texts in a Multilingual Setting</a:t>
                      </a:r>
                      <a:endParaRPr lang="en-IN" sz="1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MDeBERTA and Stylometric Neural Network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0.8956 Macro F1-score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 ensemble that uses 26 language-agnostic stylometric features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Difficulty handling short text snippets and nuanced low-resource features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extLst>
                  <a:ext uri="{0D108BD9-81ED-4DB2-BD59-A6C34878D82A}">
                    <a16:rowId xmlns:a16="http://schemas.microsoft.com/office/drawing/2014/main" val="2916277974"/>
                  </a:ext>
                </a:extLst>
              </a:tr>
              <a:tr h="773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Approach to COVID-19 Misinformation on Social Media with Multimodal and Multilingual Deep COVID-Fake Sense Model</a:t>
                      </a:r>
                      <a:endParaRPr lang="en-IN" sz="1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+ Bi-LSTM (text) and GNN (visual)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82.93% accuracy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Fuses textual and visual graph features specifically for COVID-19 data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Susceptible to training data bias; high computational requirements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extLst>
                  <a:ext uri="{0D108BD9-81ED-4DB2-BD59-A6C34878D82A}">
                    <a16:rowId xmlns:a16="http://schemas.microsoft.com/office/drawing/2014/main" val="3492187653"/>
                  </a:ext>
                </a:extLst>
              </a:tr>
              <a:tr h="5760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Deciphering Deception: Unmasking Fake News in Multilingual Contexts</a:t>
                      </a:r>
                      <a:endParaRPr lang="en-IN" sz="1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Literature Assessment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 (Review Paper)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the "Multilingual-Fake Model" as the most effective gap-filler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 a critical lack of language-specific detectors for non-English users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48" marR="58948" marT="0" marB="0"/>
                </a:tc>
                <a:extLst>
                  <a:ext uri="{0D108BD9-81ED-4DB2-BD59-A6C34878D82A}">
                    <a16:rowId xmlns:a16="http://schemas.microsoft.com/office/drawing/2014/main" val="3356569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714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47BC7C-C066-6C51-5D5B-87F61D8A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958654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F7952A-88A3-EA27-F34C-92C645CDD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368" y="1934490"/>
            <a:ext cx="8883761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effective approach to detecting fake news in a multilingual environment using NLP and deep learning techniques. By combining multiple datasets and applying transformer-based models, the proposed system achieves better generalization across languages compared to traditional methods. The solution is scalable, language-independent, and suitable for real-world applications such as social media monitoring and news verification.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75184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159</TotalTime>
  <Words>1457</Words>
  <Application>Microsoft Office PowerPoint</Application>
  <PresentationFormat>Widescreen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PROBLEM STATEMENT: </vt:lpstr>
      <vt:lpstr>Dataset Description</vt:lpstr>
      <vt:lpstr>Identification of Tools / Equipment / Training Needs </vt:lpstr>
      <vt:lpstr>BASIC MODEL USED</vt:lpstr>
      <vt:lpstr>PROPOSED MODEL</vt:lpstr>
      <vt:lpstr>Proposed Model Architecture</vt:lpstr>
      <vt:lpstr>Methodology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Rehana</dc:creator>
  <cp:lastModifiedBy>Keerthi Gadiparthy</cp:lastModifiedBy>
  <cp:revision>3</cp:revision>
  <dcterms:created xsi:type="dcterms:W3CDTF">2026-01-28T15:06:19Z</dcterms:created>
  <dcterms:modified xsi:type="dcterms:W3CDTF">2026-01-30T15:44:32Z</dcterms:modified>
</cp:coreProperties>
</file>